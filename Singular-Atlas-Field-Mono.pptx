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00200" y="1828800"/>
            <a:ext cx="1080103" cy="3790950"/>
          </a:xfrm>
          <a:prstGeom prst="rect">
            <a:avLst/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66053" y="1828800"/>
            <a:ext cx="3323395" cy="3790950"/>
          </a:xfrm>
          <a:prstGeom prst="rect">
            <a:avLst/>
          </a:prstGeom>
          <a:solidFill>
            <a:srgbClr val="F2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75199" y="1828800"/>
            <a:ext cx="2172989" cy="3790950"/>
          </a:xfrm>
          <a:prstGeom prst="rect">
            <a:avLst/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33938" y="1828800"/>
            <a:ext cx="2300812" cy="3790950"/>
          </a:xfrm>
          <a:prstGeom prst="rect">
            <a:avLst/>
          </a:prstGeom>
          <a:solidFill>
            <a:srgbClr val="F2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428750" y="5619750"/>
            <a:ext cx="10077450" cy="0"/>
          </a:xfrm>
          <a:prstGeom prst="line">
            <a:avLst/>
          </a:prstGeom>
          <a:ln w="9525">
            <a:solidFill>
              <a:srgbClr val="E3DD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90600" y="5543550"/>
            <a:ext cx="3429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825" b="0" i="0">
                <a:solidFill>
                  <a:srgbClr val="9A937F"/>
                </a:solidFill>
                <a:latin typeface="Courier New"/>
              </a:rPr>
              <a:t>0%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28750" y="4681538"/>
            <a:ext cx="10077450" cy="0"/>
          </a:xfrm>
          <a:prstGeom prst="line">
            <a:avLst/>
          </a:prstGeom>
          <a:ln w="9525">
            <a:solidFill>
              <a:srgbClr val="EFEA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28750" y="3743325"/>
            <a:ext cx="10077450" cy="0"/>
          </a:xfrm>
          <a:prstGeom prst="line">
            <a:avLst/>
          </a:prstGeom>
          <a:ln w="9525">
            <a:solidFill>
              <a:srgbClr val="E3DD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90600" y="3667125"/>
            <a:ext cx="3429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825" b="0" i="0">
                <a:solidFill>
                  <a:srgbClr val="9A937F"/>
                </a:solidFill>
                <a:latin typeface="Courier New"/>
              </a:rPr>
              <a:t>50%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28750" y="2805112"/>
            <a:ext cx="10077450" cy="0"/>
          </a:xfrm>
          <a:prstGeom prst="line">
            <a:avLst/>
          </a:prstGeom>
          <a:ln w="9525">
            <a:solidFill>
              <a:srgbClr val="EFEA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428750" y="1866900"/>
            <a:ext cx="10077450" cy="0"/>
          </a:xfrm>
          <a:prstGeom prst="line">
            <a:avLst/>
          </a:prstGeom>
          <a:ln w="9525">
            <a:solidFill>
              <a:srgbClr val="E3DD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90600" y="1790700"/>
            <a:ext cx="3429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825" b="0" i="0">
                <a:solidFill>
                  <a:srgbClr val="9A937F"/>
                </a:solidFill>
                <a:latin typeface="Courier New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 rot="16200000">
            <a:off x="-1495425" y="3657600"/>
            <a:ext cx="37528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0" i="0">
                <a:solidFill>
                  <a:srgbClr val="9A937F"/>
                </a:solidFill>
                <a:latin typeface="Courier New"/>
              </a:rPr>
              <a:t>% OF PATIENTS / TUMORS THAT CARRY THE MARKER</a:t>
            </a:r>
          </a:p>
        </p:txBody>
      </p:sp>
      <p:sp>
        <p:nvSpPr>
          <p:cNvPr id="15" name="Oval 14"/>
          <p:cNvSpPr/>
          <p:nvPr/>
        </p:nvSpPr>
        <p:spPr>
          <a:xfrm>
            <a:off x="1454225" y="4341495"/>
            <a:ext cx="304800" cy="304800"/>
          </a:xfrm>
          <a:prstGeom prst="ellipse">
            <a:avLst/>
          </a:prstGeom>
          <a:solidFill>
            <a:srgbClr val="50585E"/>
          </a:solidFill>
          <a:ln w="10160">
            <a:solidFill>
              <a:srgbClr val="0E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848805" y="4904422"/>
            <a:ext cx="304800" cy="304800"/>
          </a:xfrm>
          <a:prstGeom prst="ellipse">
            <a:avLst/>
          </a:prstGeom>
          <a:solidFill>
            <a:srgbClr val="5C9599"/>
          </a:solidFill>
          <a:ln w="101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63845" y="3403282"/>
            <a:ext cx="304800" cy="304800"/>
          </a:xfrm>
          <a:prstGeom prst="ellipse">
            <a:avLst/>
          </a:prstGeom>
          <a:solidFill>
            <a:srgbClr val="5C9599"/>
          </a:solidFill>
          <a:ln w="101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133211" y="3966210"/>
            <a:ext cx="304800" cy="304800"/>
          </a:xfrm>
          <a:prstGeom prst="ellipse">
            <a:avLst/>
          </a:prstGeom>
          <a:solidFill>
            <a:srgbClr val="5C9599"/>
          </a:solidFill>
          <a:ln w="101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261034" y="4341495"/>
            <a:ext cx="304800" cy="304800"/>
          </a:xfrm>
          <a:prstGeom prst="ellipse">
            <a:avLst/>
          </a:prstGeom>
          <a:solidFill>
            <a:srgbClr val="5C9599"/>
          </a:solidFill>
          <a:ln w="101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57950" y="2277428"/>
            <a:ext cx="304800" cy="304800"/>
          </a:xfrm>
          <a:prstGeom prst="ellipse">
            <a:avLst/>
          </a:prstGeom>
          <a:solidFill>
            <a:srgbClr val="7B8088"/>
          </a:solidFill>
          <a:ln w="10160">
            <a:solidFill>
              <a:srgbClr val="4A52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5773" y="3215640"/>
            <a:ext cx="304800" cy="304800"/>
          </a:xfrm>
          <a:prstGeom prst="ellipse">
            <a:avLst/>
          </a:prstGeom>
          <a:noFill/>
          <a:ln w="19050">
            <a:solidFill>
              <a:srgbClr val="4A52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42356" y="2915412"/>
            <a:ext cx="304800" cy="304800"/>
          </a:xfrm>
          <a:prstGeom prst="ellipse">
            <a:avLst/>
          </a:prstGeom>
          <a:noFill/>
          <a:ln w="19050">
            <a:solidFill>
              <a:srgbClr val="4A52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945449" y="2089785"/>
            <a:ext cx="304800" cy="304800"/>
          </a:xfrm>
          <a:prstGeom prst="ellipse">
            <a:avLst/>
          </a:prstGeom>
          <a:noFill/>
          <a:ln w="19050">
            <a:solidFill>
              <a:srgbClr val="355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541879" y="3217568"/>
            <a:ext cx="300943" cy="300943"/>
          </a:xfrm>
          <a:prstGeom prst="ellipse">
            <a:avLst/>
          </a:prstGeom>
          <a:solidFill>
            <a:srgbClr val="50585E"/>
          </a:solidFill>
          <a:ln w="10160">
            <a:solidFill>
              <a:srgbClr val="0E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854767" y="3217568"/>
            <a:ext cx="300943" cy="300943"/>
          </a:xfrm>
          <a:prstGeom prst="ellipse">
            <a:avLst/>
          </a:prstGeom>
          <a:noFill/>
          <a:ln w="19050">
            <a:solidFill>
              <a:srgbClr val="0E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793213" y="5356693"/>
            <a:ext cx="300943" cy="300943"/>
          </a:xfrm>
          <a:prstGeom prst="ellipse">
            <a:avLst/>
          </a:prstGeom>
          <a:solidFill>
            <a:srgbClr val="5C9599"/>
          </a:solidFill>
          <a:ln w="101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36076" y="4981408"/>
            <a:ext cx="300943" cy="300943"/>
          </a:xfrm>
          <a:prstGeom prst="ellipse">
            <a:avLst/>
          </a:prstGeom>
          <a:solidFill>
            <a:srgbClr val="5C9599"/>
          </a:solidFill>
          <a:ln w="101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390785" y="4831294"/>
            <a:ext cx="300943" cy="300943"/>
          </a:xfrm>
          <a:prstGeom prst="ellipse">
            <a:avLst/>
          </a:prstGeom>
          <a:solidFill>
            <a:srgbClr val="5C9599"/>
          </a:solidFill>
          <a:ln w="101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518608" y="5319164"/>
            <a:ext cx="300943" cy="300943"/>
          </a:xfrm>
          <a:prstGeom prst="ellipse">
            <a:avLst/>
          </a:prstGeom>
          <a:solidFill>
            <a:srgbClr val="5C9599"/>
          </a:solidFill>
          <a:ln w="101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46431" y="5394221"/>
            <a:ext cx="300943" cy="300943"/>
          </a:xfrm>
          <a:prstGeom prst="ellipse">
            <a:avLst/>
          </a:prstGeom>
          <a:solidFill>
            <a:srgbClr val="5C9599"/>
          </a:solidFill>
          <a:ln w="101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774254" y="5356693"/>
            <a:ext cx="300943" cy="300943"/>
          </a:xfrm>
          <a:prstGeom prst="ellipse">
            <a:avLst/>
          </a:prstGeom>
          <a:solidFill>
            <a:srgbClr val="5C9599"/>
          </a:solidFill>
          <a:ln w="101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902076" y="5394221"/>
            <a:ext cx="300943" cy="300943"/>
          </a:xfrm>
          <a:prstGeom prst="ellipse">
            <a:avLst/>
          </a:prstGeom>
          <a:solidFill>
            <a:srgbClr val="5C9599"/>
          </a:solidFill>
          <a:ln w="101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058659" y="5431750"/>
            <a:ext cx="300943" cy="300943"/>
          </a:xfrm>
          <a:prstGeom prst="ellipse">
            <a:avLst/>
          </a:prstGeom>
          <a:solidFill>
            <a:srgbClr val="5C9599"/>
          </a:solidFill>
          <a:ln w="101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17399" y="2279356"/>
            <a:ext cx="300943" cy="300943"/>
          </a:xfrm>
          <a:prstGeom prst="ellipse">
            <a:avLst/>
          </a:prstGeom>
          <a:solidFill>
            <a:srgbClr val="7B8088"/>
          </a:solidFill>
          <a:ln w="10160">
            <a:solidFill>
              <a:srgbClr val="4A52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2107" y="2354413"/>
            <a:ext cx="300943" cy="300943"/>
          </a:xfrm>
          <a:prstGeom prst="ellipse">
            <a:avLst/>
          </a:prstGeom>
          <a:noFill/>
          <a:ln w="19050">
            <a:solidFill>
              <a:srgbClr val="4A52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999930" y="4718708"/>
            <a:ext cx="300943" cy="300943"/>
          </a:xfrm>
          <a:prstGeom prst="ellipse">
            <a:avLst/>
          </a:prstGeom>
          <a:noFill/>
          <a:ln w="19050">
            <a:solidFill>
              <a:srgbClr val="4A52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127753" y="3968138"/>
            <a:ext cx="300943" cy="300943"/>
          </a:xfrm>
          <a:prstGeom prst="ellipse">
            <a:avLst/>
          </a:prstGeom>
          <a:noFill/>
          <a:ln w="19050">
            <a:solidFill>
              <a:srgbClr val="4A52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092110" y="1920980"/>
            <a:ext cx="267125" cy="267125"/>
          </a:xfrm>
          <a:prstGeom prst="ellipse">
            <a:avLst/>
          </a:prstGeom>
          <a:solidFill>
            <a:srgbClr val="6C87A0"/>
          </a:solidFill>
          <a:ln w="10160">
            <a:solidFill>
              <a:srgbClr val="355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219933" y="4247747"/>
            <a:ext cx="267125" cy="267125"/>
          </a:xfrm>
          <a:prstGeom prst="ellipse">
            <a:avLst/>
          </a:prstGeom>
          <a:solidFill>
            <a:srgbClr val="6C87A0"/>
          </a:solidFill>
          <a:ln w="10160">
            <a:solidFill>
              <a:srgbClr val="355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347756" y="1920980"/>
            <a:ext cx="267125" cy="267125"/>
          </a:xfrm>
          <a:prstGeom prst="ellipse">
            <a:avLst/>
          </a:prstGeom>
          <a:solidFill>
            <a:srgbClr val="6C87A0"/>
          </a:solidFill>
          <a:ln w="10160">
            <a:solidFill>
              <a:srgbClr val="355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475578" y="1920980"/>
            <a:ext cx="267125" cy="267125"/>
          </a:xfrm>
          <a:prstGeom prst="ellipse">
            <a:avLst/>
          </a:prstGeom>
          <a:solidFill>
            <a:srgbClr val="6C87A0"/>
          </a:solidFill>
          <a:ln w="10160">
            <a:solidFill>
              <a:srgbClr val="355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334569" y="2703665"/>
            <a:ext cx="202896" cy="202896"/>
          </a:xfrm>
          <a:prstGeom prst="ellipse">
            <a:avLst/>
          </a:prstGeom>
          <a:solidFill>
            <a:srgbClr val="5C9599"/>
          </a:solidFill>
          <a:ln w="101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462392" y="2516022"/>
            <a:ext cx="202896" cy="202896"/>
          </a:xfrm>
          <a:prstGeom prst="ellipse">
            <a:avLst/>
          </a:prstGeom>
          <a:noFill/>
          <a:ln w="1905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635516" y="2516022"/>
            <a:ext cx="202896" cy="202896"/>
          </a:xfrm>
          <a:prstGeom prst="ellipse">
            <a:avLst/>
          </a:prstGeom>
          <a:noFill/>
          <a:ln w="19050">
            <a:solidFill>
              <a:srgbClr val="355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034585" y="5412722"/>
            <a:ext cx="188886" cy="188886"/>
          </a:xfrm>
          <a:prstGeom prst="ellipse">
            <a:avLst/>
          </a:prstGeom>
          <a:solidFill>
            <a:srgbClr val="5C9599"/>
          </a:solidFill>
          <a:ln w="101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156231" y="5187551"/>
            <a:ext cx="188886" cy="188886"/>
          </a:xfrm>
          <a:prstGeom prst="ellipse">
            <a:avLst/>
          </a:prstGeom>
          <a:solidFill>
            <a:srgbClr val="5C9599"/>
          </a:solidFill>
          <a:ln w="101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787433" y="3104030"/>
            <a:ext cx="152734" cy="152734"/>
          </a:xfrm>
          <a:prstGeom prst="ellipse">
            <a:avLst/>
          </a:prstGeom>
          <a:solidFill>
            <a:srgbClr val="50585E"/>
          </a:solidFill>
          <a:ln w="10160">
            <a:solidFill>
              <a:srgbClr val="0E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329680" y="2090761"/>
            <a:ext cx="152734" cy="152734"/>
          </a:xfrm>
          <a:prstGeom prst="ellipse">
            <a:avLst/>
          </a:prstGeom>
          <a:solidFill>
            <a:srgbClr val="7B8088"/>
          </a:solidFill>
          <a:ln w="10160">
            <a:solidFill>
              <a:srgbClr val="4A52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238892" y="3674023"/>
            <a:ext cx="138604" cy="138604"/>
          </a:xfrm>
          <a:prstGeom prst="ellipse">
            <a:avLst/>
          </a:prstGeom>
          <a:solidFill>
            <a:srgbClr val="5C9599"/>
          </a:solidFill>
          <a:ln w="101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467089" y="3113616"/>
            <a:ext cx="133562" cy="133562"/>
          </a:xfrm>
          <a:prstGeom prst="ellipse">
            <a:avLst/>
          </a:prstGeom>
          <a:noFill/>
          <a:ln w="19050">
            <a:solidFill>
              <a:srgbClr val="4A52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053651" y="2363046"/>
            <a:ext cx="133562" cy="133562"/>
          </a:xfrm>
          <a:prstGeom prst="ellipse">
            <a:avLst/>
          </a:prstGeom>
          <a:solidFill>
            <a:srgbClr val="6C87A0"/>
          </a:solidFill>
          <a:ln w="10160">
            <a:solidFill>
              <a:srgbClr val="355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184094" y="2553309"/>
            <a:ext cx="128323" cy="128323"/>
          </a:xfrm>
          <a:prstGeom prst="ellipse">
            <a:avLst/>
          </a:prstGeom>
          <a:noFill/>
          <a:ln w="19050">
            <a:solidFill>
              <a:srgbClr val="355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717207" y="3307171"/>
            <a:ext cx="121738" cy="121738"/>
          </a:xfrm>
          <a:prstGeom prst="ellipse">
            <a:avLst/>
          </a:prstGeom>
          <a:solidFill>
            <a:srgbClr val="50585E"/>
          </a:solidFill>
          <a:ln w="10160">
            <a:solidFill>
              <a:srgbClr val="0E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997856" y="4883368"/>
            <a:ext cx="121738" cy="121738"/>
          </a:xfrm>
          <a:prstGeom prst="ellipse">
            <a:avLst/>
          </a:prstGeom>
          <a:solidFill>
            <a:srgbClr val="5C9599"/>
          </a:solidFill>
          <a:ln w="101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630794" y="4132798"/>
            <a:ext cx="121738" cy="121738"/>
          </a:xfrm>
          <a:prstGeom prst="ellipse">
            <a:avLst/>
          </a:prstGeom>
          <a:solidFill>
            <a:srgbClr val="5C9599"/>
          </a:solidFill>
          <a:ln w="101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760914" y="5298479"/>
            <a:ext cx="117142" cy="117142"/>
          </a:xfrm>
          <a:prstGeom prst="ellipse">
            <a:avLst/>
          </a:prstGeom>
          <a:solidFill>
            <a:srgbClr val="5C9599"/>
          </a:solidFill>
          <a:ln w="101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888737" y="5110837"/>
            <a:ext cx="117142" cy="117142"/>
          </a:xfrm>
          <a:prstGeom prst="ellipse">
            <a:avLst/>
          </a:prstGeom>
          <a:solidFill>
            <a:srgbClr val="5C9599"/>
          </a:solidFill>
          <a:ln w="101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016560" y="4435324"/>
            <a:ext cx="117142" cy="117142"/>
          </a:xfrm>
          <a:prstGeom prst="ellipse">
            <a:avLst/>
          </a:prstGeom>
          <a:solidFill>
            <a:srgbClr val="5C9599"/>
          </a:solidFill>
          <a:ln w="101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03122" y="2258671"/>
            <a:ext cx="117142" cy="117142"/>
          </a:xfrm>
          <a:prstGeom prst="ellipse">
            <a:avLst/>
          </a:prstGeom>
          <a:solidFill>
            <a:srgbClr val="7B8088"/>
          </a:solidFill>
          <a:ln w="10160">
            <a:solidFill>
              <a:srgbClr val="4A52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33951" y="2186620"/>
            <a:ext cx="111131" cy="111131"/>
          </a:xfrm>
          <a:prstGeom prst="ellipse">
            <a:avLst/>
          </a:prstGeom>
          <a:solidFill>
            <a:srgbClr val="7B8088"/>
          </a:solidFill>
          <a:ln w="10160">
            <a:solidFill>
              <a:srgbClr val="4A52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61774" y="1998977"/>
            <a:ext cx="111131" cy="111131"/>
          </a:xfrm>
          <a:prstGeom prst="ellipse">
            <a:avLst/>
          </a:prstGeom>
          <a:solidFill>
            <a:srgbClr val="7B8088"/>
          </a:solidFill>
          <a:ln w="10160">
            <a:solidFill>
              <a:srgbClr val="4A52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89597" y="1998977"/>
            <a:ext cx="111131" cy="111131"/>
          </a:xfrm>
          <a:prstGeom prst="ellipse">
            <a:avLst/>
          </a:prstGeom>
          <a:solidFill>
            <a:srgbClr val="7B8088"/>
          </a:solidFill>
          <a:ln w="10160">
            <a:solidFill>
              <a:srgbClr val="4A52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17420" y="3312475"/>
            <a:ext cx="111131" cy="111131"/>
          </a:xfrm>
          <a:prstGeom prst="ellipse">
            <a:avLst/>
          </a:prstGeom>
          <a:noFill/>
          <a:ln w="19050">
            <a:solidFill>
              <a:srgbClr val="4A52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780461" y="1998977"/>
            <a:ext cx="111131" cy="111131"/>
          </a:xfrm>
          <a:prstGeom prst="ellipse">
            <a:avLst/>
          </a:prstGeom>
          <a:solidFill>
            <a:srgbClr val="6C87A0"/>
          </a:solidFill>
          <a:ln w="10160">
            <a:solidFill>
              <a:srgbClr val="355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908284" y="1998977"/>
            <a:ext cx="111131" cy="111131"/>
          </a:xfrm>
          <a:prstGeom prst="ellipse">
            <a:avLst/>
          </a:prstGeom>
          <a:solidFill>
            <a:srgbClr val="6C87A0"/>
          </a:solidFill>
          <a:ln w="10160">
            <a:solidFill>
              <a:srgbClr val="355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320513" y="2186620"/>
            <a:ext cx="111131" cy="111131"/>
          </a:xfrm>
          <a:prstGeom prst="ellipse">
            <a:avLst/>
          </a:prstGeom>
          <a:solidFill>
            <a:srgbClr val="6C87A0"/>
          </a:solidFill>
          <a:ln w="10160">
            <a:solidFill>
              <a:srgbClr val="355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448336" y="1998977"/>
            <a:ext cx="111131" cy="111131"/>
          </a:xfrm>
          <a:prstGeom prst="ellipse">
            <a:avLst/>
          </a:prstGeom>
          <a:solidFill>
            <a:srgbClr val="6C87A0"/>
          </a:solidFill>
          <a:ln w="10160">
            <a:solidFill>
              <a:srgbClr val="355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150567" y="5117020"/>
            <a:ext cx="104775" cy="104775"/>
          </a:xfrm>
          <a:prstGeom prst="ellipse">
            <a:avLst/>
          </a:prstGeom>
          <a:solidFill>
            <a:srgbClr val="5C9599"/>
          </a:solidFill>
          <a:ln w="101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579337" y="2752725"/>
            <a:ext cx="104775" cy="104775"/>
          </a:xfrm>
          <a:prstGeom prst="ellipse">
            <a:avLst/>
          </a:prstGeom>
          <a:noFill/>
          <a:ln w="19050">
            <a:solidFill>
              <a:srgbClr val="355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279716" y="3692264"/>
            <a:ext cx="102122" cy="102122"/>
          </a:xfrm>
          <a:prstGeom prst="ellipse">
            <a:avLst/>
          </a:prstGeom>
          <a:solidFill>
            <a:srgbClr val="5C9599"/>
          </a:solidFill>
          <a:ln w="101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407539" y="2941694"/>
            <a:ext cx="102122" cy="102122"/>
          </a:xfrm>
          <a:prstGeom prst="ellipse">
            <a:avLst/>
          </a:prstGeom>
          <a:noFill/>
          <a:ln w="1905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249747" y="4255191"/>
            <a:ext cx="102122" cy="102122"/>
          </a:xfrm>
          <a:prstGeom prst="ellipse">
            <a:avLst/>
          </a:prstGeom>
          <a:solidFill>
            <a:srgbClr val="7B8088"/>
          </a:solidFill>
          <a:ln w="10160">
            <a:solidFill>
              <a:srgbClr val="4A52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377570" y="2566409"/>
            <a:ext cx="102122" cy="102122"/>
          </a:xfrm>
          <a:prstGeom prst="ellipse">
            <a:avLst/>
          </a:prstGeom>
          <a:noFill/>
          <a:ln w="19050">
            <a:solidFill>
              <a:srgbClr val="4A52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505393" y="2754051"/>
            <a:ext cx="102122" cy="102122"/>
          </a:xfrm>
          <a:prstGeom prst="ellipse">
            <a:avLst/>
          </a:prstGeom>
          <a:noFill/>
          <a:ln w="19050">
            <a:solidFill>
              <a:srgbClr val="4A52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708486" y="3467093"/>
            <a:ext cx="102122" cy="102122"/>
          </a:xfrm>
          <a:prstGeom prst="ellipse">
            <a:avLst/>
          </a:prstGeom>
          <a:noFill/>
          <a:ln w="19050">
            <a:solidFill>
              <a:srgbClr val="355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471896" y="4632533"/>
            <a:ext cx="98008" cy="98008"/>
          </a:xfrm>
          <a:prstGeom prst="ellipse">
            <a:avLst/>
          </a:prstGeom>
          <a:solidFill>
            <a:srgbClr val="50585E"/>
          </a:solidFill>
          <a:ln w="10160">
            <a:solidFill>
              <a:srgbClr val="0E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537419" y="5007818"/>
            <a:ext cx="98008" cy="98008"/>
          </a:xfrm>
          <a:prstGeom prst="ellipse">
            <a:avLst/>
          </a:prstGeom>
          <a:solidFill>
            <a:srgbClr val="5C9599"/>
          </a:solidFill>
          <a:ln w="101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746689" y="2193181"/>
            <a:ext cx="98008" cy="98008"/>
          </a:xfrm>
          <a:prstGeom prst="ellipse">
            <a:avLst/>
          </a:prstGeom>
          <a:solidFill>
            <a:srgbClr val="7B8088"/>
          </a:solidFill>
          <a:ln w="10160">
            <a:solidFill>
              <a:srgbClr val="4A52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901900" y="2382202"/>
            <a:ext cx="95250" cy="95250"/>
          </a:xfrm>
          <a:prstGeom prst="ellipse">
            <a:avLst/>
          </a:prstGeom>
          <a:solidFill>
            <a:srgbClr val="50585E"/>
          </a:solidFill>
          <a:ln w="10160">
            <a:solidFill>
              <a:srgbClr val="0E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318089" y="3695700"/>
            <a:ext cx="95250" cy="95250"/>
          </a:xfrm>
          <a:prstGeom prst="ellipse">
            <a:avLst/>
          </a:prstGeom>
          <a:solidFill>
            <a:srgbClr val="5C9599"/>
          </a:solidFill>
          <a:ln w="101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666621" y="2757488"/>
            <a:ext cx="95250" cy="95250"/>
          </a:xfrm>
          <a:prstGeom prst="ellipse">
            <a:avLst/>
          </a:prstGeom>
          <a:solidFill>
            <a:srgbClr val="5C9599"/>
          </a:solidFill>
          <a:ln w="101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794444" y="5346954"/>
            <a:ext cx="95250" cy="95250"/>
          </a:xfrm>
          <a:prstGeom prst="ellipse">
            <a:avLst/>
          </a:prstGeom>
          <a:solidFill>
            <a:srgbClr val="5C9599"/>
          </a:solidFill>
          <a:ln w="101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845922" y="2006918"/>
            <a:ext cx="95250" cy="95250"/>
          </a:xfrm>
          <a:prstGeom prst="ellipse">
            <a:avLst/>
          </a:prstGeom>
          <a:solidFill>
            <a:srgbClr val="6C87A0"/>
          </a:solidFill>
          <a:ln w="10160">
            <a:solidFill>
              <a:srgbClr val="355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973745" y="2006918"/>
            <a:ext cx="95250" cy="95250"/>
          </a:xfrm>
          <a:prstGeom prst="ellipse">
            <a:avLst/>
          </a:prstGeom>
          <a:solidFill>
            <a:srgbClr val="6C87A0"/>
          </a:solidFill>
          <a:ln w="10160">
            <a:solidFill>
              <a:srgbClr val="355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839745" y="3395472"/>
            <a:ext cx="95250" cy="95250"/>
          </a:xfrm>
          <a:prstGeom prst="ellipse">
            <a:avLst/>
          </a:prstGeom>
          <a:noFill/>
          <a:ln w="19050">
            <a:solidFill>
              <a:srgbClr val="355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967568" y="4446270"/>
            <a:ext cx="95250" cy="95250"/>
          </a:xfrm>
          <a:prstGeom prst="ellipse">
            <a:avLst/>
          </a:prstGeom>
          <a:noFill/>
          <a:ln w="19050">
            <a:solidFill>
              <a:srgbClr val="355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095391" y="2494788"/>
            <a:ext cx="95250" cy="95250"/>
          </a:xfrm>
          <a:prstGeom prst="ellipse">
            <a:avLst/>
          </a:prstGeom>
          <a:noFill/>
          <a:ln w="19050">
            <a:solidFill>
              <a:srgbClr val="355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223214" y="1969389"/>
            <a:ext cx="95250" cy="95250"/>
          </a:xfrm>
          <a:prstGeom prst="ellipse">
            <a:avLst/>
          </a:prstGeom>
          <a:solidFill>
            <a:srgbClr val="6C87A0"/>
          </a:solidFill>
          <a:ln w="10160">
            <a:solidFill>
              <a:srgbClr val="355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232402" y="5389245"/>
            <a:ext cx="85725" cy="85725"/>
          </a:xfrm>
          <a:prstGeom prst="ellipse">
            <a:avLst/>
          </a:prstGeom>
          <a:solidFill>
            <a:srgbClr val="50585E"/>
          </a:solidFill>
          <a:ln w="10160">
            <a:solidFill>
              <a:srgbClr val="0E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2502428" y="5089017"/>
            <a:ext cx="85725" cy="85725"/>
          </a:xfrm>
          <a:prstGeom prst="ellipse">
            <a:avLst/>
          </a:prstGeom>
          <a:solidFill>
            <a:srgbClr val="50585E"/>
          </a:solidFill>
          <a:ln w="10160">
            <a:solidFill>
              <a:srgbClr val="0E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108748" y="5565629"/>
            <a:ext cx="85725" cy="85725"/>
          </a:xfrm>
          <a:prstGeom prst="ellipse">
            <a:avLst/>
          </a:prstGeom>
          <a:solidFill>
            <a:srgbClr val="5C9599"/>
          </a:solidFill>
          <a:ln w="101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927029" y="2199322"/>
            <a:ext cx="85725" cy="85725"/>
          </a:xfrm>
          <a:prstGeom prst="ellipse">
            <a:avLst/>
          </a:prstGeom>
          <a:solidFill>
            <a:srgbClr val="5C9599"/>
          </a:solidFill>
          <a:ln w="101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054852" y="1824038"/>
            <a:ext cx="85725" cy="85725"/>
          </a:xfrm>
          <a:prstGeom prst="ellipse">
            <a:avLst/>
          </a:prstGeom>
          <a:solidFill>
            <a:srgbClr val="5C9599"/>
          </a:solidFill>
          <a:ln w="101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182675" y="1824038"/>
            <a:ext cx="85725" cy="85725"/>
          </a:xfrm>
          <a:prstGeom prst="ellipse">
            <a:avLst/>
          </a:prstGeom>
          <a:solidFill>
            <a:srgbClr val="5C9599"/>
          </a:solidFill>
          <a:ln w="101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8641414" y="3700462"/>
            <a:ext cx="85725" cy="85725"/>
          </a:xfrm>
          <a:prstGeom prst="ellipse">
            <a:avLst/>
          </a:prstGeom>
          <a:noFill/>
          <a:ln w="19050">
            <a:solidFill>
              <a:srgbClr val="4A52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Connector 95"/>
          <p:cNvCxnSpPr/>
          <p:nvPr/>
        </p:nvCxnSpPr>
        <p:spPr>
          <a:xfrm>
            <a:off x="1638300" y="5867400"/>
            <a:ext cx="1003903" cy="0"/>
          </a:xfrm>
          <a:prstGeom prst="line">
            <a:avLst/>
          </a:prstGeom>
          <a:ln w="31750">
            <a:solidFill>
              <a:srgbClr val="0E1B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1600200" y="5905500"/>
            <a:ext cx="1080103" cy="1714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1B26"/>
                </a:solidFill>
                <a:latin typeface="Helvetica Neue"/>
              </a:rPr>
              <a:t>IO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600200" y="6076950"/>
            <a:ext cx="1080103" cy="1333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40" b="0" i="0">
                <a:solidFill>
                  <a:srgbClr val="9A937F"/>
                </a:solidFill>
                <a:latin typeface="Courier New"/>
              </a:rPr>
              <a:t>IMMUNO-ONCOLOGY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3004153" y="5867400"/>
            <a:ext cx="3247196" cy="0"/>
          </a:xfrm>
          <a:prstGeom prst="line">
            <a:avLst/>
          </a:prstGeom>
          <a:ln w="31750">
            <a:solidFill>
              <a:srgbClr val="1F6F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2966053" y="5905500"/>
            <a:ext cx="3323395" cy="1714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1F6F78"/>
                </a:solidFill>
                <a:latin typeface="Helvetica Neue"/>
              </a:rPr>
              <a:t>TT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966053" y="6076950"/>
            <a:ext cx="3323395" cy="1333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40" b="0" i="0">
                <a:solidFill>
                  <a:srgbClr val="9A937F"/>
                </a:solidFill>
                <a:latin typeface="Courier New"/>
              </a:rPr>
              <a:t>TARGETED THERAPY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6613299" y="5867400"/>
            <a:ext cx="2096789" cy="0"/>
          </a:xfrm>
          <a:prstGeom prst="line">
            <a:avLst/>
          </a:prstGeom>
          <a:ln w="31750">
            <a:solidFill>
              <a:srgbClr val="4A52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6575199" y="5905500"/>
            <a:ext cx="2172989" cy="1714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4A5260"/>
                </a:solidFill>
                <a:latin typeface="Helvetica Neue"/>
              </a:rPr>
              <a:t>ADC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575199" y="6076950"/>
            <a:ext cx="2172989" cy="1333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40" b="0" i="0">
                <a:solidFill>
                  <a:srgbClr val="9A937F"/>
                </a:solidFill>
                <a:latin typeface="Courier New"/>
              </a:rPr>
              <a:t>ANTIBODY–DRUG CONJUGATE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9072038" y="5867400"/>
            <a:ext cx="2224612" cy="0"/>
          </a:xfrm>
          <a:prstGeom prst="line">
            <a:avLst/>
          </a:prstGeom>
          <a:ln w="31750">
            <a:solidFill>
              <a:srgbClr val="355C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9033938" y="5905500"/>
            <a:ext cx="2300812" cy="1714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55C82"/>
                </a:solidFill>
                <a:latin typeface="Helvetica Neue"/>
              </a:rPr>
              <a:t>CT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033938" y="6076950"/>
            <a:ext cx="2300812" cy="1333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40" b="0" i="0">
                <a:solidFill>
                  <a:srgbClr val="9A937F"/>
                </a:solidFill>
                <a:latin typeface="Courier New"/>
              </a:rPr>
              <a:t>CELL THERAPY / TCE</a:t>
            </a:r>
          </a:p>
        </p:txBody>
      </p:sp>
      <p:cxnSp>
        <p:nvCxnSpPr>
          <p:cNvPr id="108" name="Connector 107"/>
          <p:cNvCxnSpPr/>
          <p:nvPr/>
        </p:nvCxnSpPr>
        <p:spPr>
          <a:xfrm flipV="1">
            <a:off x="1692350" y="3160418"/>
            <a:ext cx="0" cy="38100"/>
          </a:xfrm>
          <a:prstGeom prst="line">
            <a:avLst/>
          </a:prstGeom>
          <a:ln w="10160">
            <a:solidFill>
              <a:srgbClr val="B7B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1073225" y="3027068"/>
            <a:ext cx="1238250" cy="14287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25" b="1" i="0">
                <a:solidFill>
                  <a:srgbClr val="1F2A36"/>
                </a:solidFill>
                <a:latin typeface="Helvetica Neue"/>
              </a:rPr>
              <a:t>PD-L1 · NSCLC</a:t>
            </a:r>
          </a:p>
        </p:txBody>
      </p:sp>
      <p:cxnSp>
        <p:nvCxnSpPr>
          <p:cNvPr id="110" name="Connector 109"/>
          <p:cNvCxnSpPr/>
          <p:nvPr/>
        </p:nvCxnSpPr>
        <p:spPr>
          <a:xfrm flipV="1">
            <a:off x="4436017" y="2646515"/>
            <a:ext cx="0" cy="38100"/>
          </a:xfrm>
          <a:prstGeom prst="line">
            <a:avLst/>
          </a:prstGeom>
          <a:ln w="10160">
            <a:solidFill>
              <a:srgbClr val="B7B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3816892" y="2513165"/>
            <a:ext cx="1238250" cy="14287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25" b="1" i="0">
                <a:solidFill>
                  <a:srgbClr val="1F2A36"/>
                </a:solidFill>
                <a:latin typeface="Helvetica Neue"/>
              </a:rPr>
              <a:t>PSMA · mCRPC</a:t>
            </a:r>
          </a:p>
        </p:txBody>
      </p:sp>
      <p:cxnSp>
        <p:nvCxnSpPr>
          <p:cNvPr id="112" name="Connector 111"/>
          <p:cNvCxnSpPr/>
          <p:nvPr/>
        </p:nvCxnSpPr>
        <p:spPr>
          <a:xfrm flipV="1">
            <a:off x="3116245" y="3346132"/>
            <a:ext cx="0" cy="38100"/>
          </a:xfrm>
          <a:prstGeom prst="line">
            <a:avLst/>
          </a:prstGeom>
          <a:ln w="10160">
            <a:solidFill>
              <a:srgbClr val="B7B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497120" y="3212782"/>
            <a:ext cx="1238250" cy="14287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25" b="1" i="0">
                <a:solidFill>
                  <a:srgbClr val="1F2A36"/>
                </a:solidFill>
                <a:latin typeface="Helvetica Neue"/>
              </a:rPr>
              <a:t>HER2 · breast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9225672" y="2207155"/>
            <a:ext cx="0" cy="28575"/>
          </a:xfrm>
          <a:prstGeom prst="line">
            <a:avLst/>
          </a:prstGeom>
          <a:ln w="10160">
            <a:solidFill>
              <a:srgbClr val="B7B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8606547" y="2226205"/>
            <a:ext cx="1238250" cy="14287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25" b="1" i="0">
                <a:solidFill>
                  <a:srgbClr val="1F2A36"/>
                </a:solidFill>
                <a:latin typeface="Helvetica Neue"/>
              </a:rPr>
              <a:t>BCMA · myeloma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7533870" y="3266229"/>
            <a:ext cx="0" cy="28575"/>
          </a:xfrm>
          <a:prstGeom prst="line">
            <a:avLst/>
          </a:prstGeom>
          <a:ln w="10160">
            <a:solidFill>
              <a:srgbClr val="B7B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6914745" y="3285279"/>
            <a:ext cx="1238250" cy="14287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25" b="1" i="0">
                <a:solidFill>
                  <a:srgbClr val="1F2A36"/>
                </a:solidFill>
                <a:latin typeface="Helvetica Neue"/>
              </a:rPr>
              <a:t>B7-H3 · SCLC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172200" y="2639378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0" i="0">
                <a:solidFill>
                  <a:srgbClr val="5B6470"/>
                </a:solidFill>
                <a:latin typeface="Helvetica Neue"/>
              </a:rPr>
              <a:t>TROP2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534683" y="4343210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GPRC5D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577043" y="4322445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0" i="0">
                <a:solidFill>
                  <a:srgbClr val="5B6470"/>
                </a:solidFill>
                <a:latin typeface="Helvetica Neue"/>
              </a:rPr>
              <a:t>EGFRvIII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485636" y="4080510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PIK3CA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613459" y="4455795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ESR1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300023" y="3577590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0" i="0">
                <a:solidFill>
                  <a:srgbClr val="5B6470"/>
                </a:solidFill>
                <a:latin typeface="Helvetica Neue"/>
              </a:rPr>
              <a:t>Nectin-4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094781" y="3029712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LIV-1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659699" y="2451735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0" i="0">
                <a:solidFill>
                  <a:srgbClr val="5B6470"/>
                </a:solidFill>
                <a:latin typeface="Helvetica Neue"/>
              </a:rPr>
              <a:t>MUC1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203335" y="3329940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TIGIT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739353" y="4943666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EGFR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230929" y="5195339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0" i="0">
                <a:solidFill>
                  <a:srgbClr val="5B6470"/>
                </a:solidFill>
                <a:latin typeface="Helvetica Neue"/>
              </a:rPr>
              <a:t>ALK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220675" y="2466784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HER3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348498" y="4831080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CEACAM5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476321" y="4080510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AXL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043168" y="1797155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0" i="0">
                <a:solidFill>
                  <a:srgbClr val="5B6470"/>
                </a:solidFill>
                <a:latin typeface="Helvetica Neue"/>
              </a:rPr>
              <a:t>CD38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298814" y="2392197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0" i="0">
                <a:solidFill>
                  <a:srgbClr val="5B6470"/>
                </a:solidFill>
                <a:latin typeface="Helvetica Neue"/>
              </a:rPr>
              <a:t>STEAP1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812524" y="5063726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0" i="0">
                <a:solidFill>
                  <a:srgbClr val="5B6470"/>
                </a:solidFill>
                <a:latin typeface="Helvetica Neue"/>
              </a:rPr>
              <a:t>BRAF V600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967898" y="1966936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0" i="0">
                <a:solidFill>
                  <a:srgbClr val="5B6470"/>
                </a:solidFill>
                <a:latin typeface="Helvetica Neue"/>
              </a:rPr>
              <a:t>Tissue Factor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234839" y="2391728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DLL3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360042" y="2579370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CD70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800156" y="4155567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CLDN18.2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925681" y="5318950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IDH1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509158" y="4987012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0" i="0">
                <a:solidFill>
                  <a:srgbClr val="5B6470"/>
                </a:solidFill>
                <a:latin typeface="Helvetica Neue"/>
              </a:rPr>
              <a:t>IDH2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181327" y="4455795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FLT3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223543" y="2432963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0" i="0">
                <a:solidFill>
                  <a:srgbClr val="5B6470"/>
                </a:solidFill>
                <a:latin typeface="Helvetica Neue"/>
              </a:rPr>
              <a:t>CD33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892707" y="2204085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CD22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806650" y="4455795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PD-L1 · TNBC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85800" y="457200"/>
            <a:ext cx="47625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825" b="1" i="0">
                <a:solidFill>
                  <a:srgbClr val="1A4D5B"/>
                </a:solidFill>
                <a:latin typeface="Helvetica Neue"/>
              </a:rPr>
              <a:t>HOW WE EXECUTE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85800" y="628650"/>
            <a:ext cx="7239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300" b="0" i="0">
                <a:solidFill>
                  <a:srgbClr val="0A1620"/>
                </a:solidFill>
                <a:latin typeface="Georgia"/>
              </a:rPr>
              <a:t>The Disease &amp; Drug-Class Atlas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810500" y="476250"/>
            <a:ext cx="36957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4600" b="0" i="0">
                <a:solidFill>
                  <a:srgbClr val="1F6F78"/>
                </a:solidFill>
                <a:latin typeface="Georgia"/>
              </a:rPr>
              <a:t>~$190B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458200" y="11430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1F2A36"/>
                </a:solidFill>
                <a:latin typeface="Helvetica Neue"/>
              </a:rPr>
              <a:t>of oncology therapy market sits across the indications these targets define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810500" y="1428750"/>
            <a:ext cx="3695700" cy="1333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750" b="0" i="0">
                <a:solidFill>
                  <a:srgbClr val="8A8472"/>
                </a:solidFill>
                <a:latin typeface="Courier New"/>
              </a:rPr>
              <a:t>65 targets · 22 indications · 4 drug classes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685800" y="1676400"/>
            <a:ext cx="10820400" cy="0"/>
          </a:xfrm>
          <a:prstGeom prst="line">
            <a:avLst/>
          </a:prstGeom>
          <a:ln w="9525">
            <a:solidFill>
              <a:srgbClr val="E3DD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Oval 150"/>
          <p:cNvSpPr/>
          <p:nvPr/>
        </p:nvSpPr>
        <p:spPr>
          <a:xfrm>
            <a:off x="1428750" y="6477000"/>
            <a:ext cx="114300" cy="114300"/>
          </a:xfrm>
          <a:prstGeom prst="ellipse">
            <a:avLst/>
          </a:prstGeom>
          <a:solidFill>
            <a:srgbClr val="1F2A36"/>
          </a:solidFill>
          <a:ln w="6350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581150" y="6467475"/>
            <a:ext cx="6667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825" b="0" i="0">
                <a:solidFill>
                  <a:srgbClr val="1F2A36"/>
                </a:solidFill>
                <a:latin typeface="Helvetica Neue"/>
              </a:rPr>
              <a:t>Validated</a:t>
            </a:r>
          </a:p>
        </p:txBody>
      </p:sp>
      <p:sp>
        <p:nvSpPr>
          <p:cNvPr id="153" name="Oval 152"/>
          <p:cNvSpPr/>
          <p:nvPr/>
        </p:nvSpPr>
        <p:spPr>
          <a:xfrm>
            <a:off x="2343150" y="6477000"/>
            <a:ext cx="114300" cy="114300"/>
          </a:xfrm>
          <a:prstGeom prst="ellipse">
            <a:avLst/>
          </a:prstGeom>
          <a:noFill/>
          <a:ln w="17780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495550" y="6467475"/>
            <a:ext cx="6667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825" b="0" i="0">
                <a:solidFill>
                  <a:srgbClr val="1F2A36"/>
                </a:solidFill>
                <a:latin typeface="Helvetica Neue"/>
              </a:rPr>
              <a:t>In trials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096000" y="6467475"/>
            <a:ext cx="4724400" cy="1333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825" b="0" i="1">
                <a:solidFill>
                  <a:srgbClr val="4A5260"/>
                </a:solidFill>
                <a:latin typeface="Georgia"/>
              </a:rPr>
              <a:t>each circle = one marker in one indication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685800" y="6667500"/>
            <a:ext cx="10820400" cy="0"/>
          </a:xfrm>
          <a:prstGeom prst="line">
            <a:avLst/>
          </a:prstGeom>
          <a:ln w="9525">
            <a:solidFill>
              <a:srgbClr val="E3DD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685800" y="6705600"/>
            <a:ext cx="47625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675" b="1" i="0">
                <a:solidFill>
                  <a:srgbClr val="8A8472"/>
                </a:solidFill>
                <a:latin typeface="Helvetica Neue"/>
              </a:rPr>
              <a:t>SINGULAR GENOMICS · DEERFIELD IC · JUNE 2026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143250" y="6705600"/>
            <a:ext cx="59055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40" b="0" i="0">
                <a:solidFill>
                  <a:srgbClr val="8A8472"/>
                </a:solidFill>
                <a:latin typeface="Courier New"/>
              </a:rPr>
              <a:t>Frequencies: peer-reviewed / FDA labels · markets: 2024 secondary-research estimates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553700" y="6705600"/>
            <a:ext cx="9525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75" b="1" i="0">
                <a:solidFill>
                  <a:srgbClr val="8A8472"/>
                </a:solidFill>
                <a:latin typeface="Helvetica Neue"/>
              </a:rPr>
              <a:t>THE ATLAS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