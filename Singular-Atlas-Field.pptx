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0" y="1828800"/>
            <a:ext cx="1080103" cy="3790950"/>
          </a:xfrm>
          <a:prstGeom prst="rect">
            <a:avLst/>
          </a:prstGeom>
          <a:solidFill>
            <a:srgbClr val="EF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66053" y="1828800"/>
            <a:ext cx="3323395" cy="3790950"/>
          </a:xfrm>
          <a:prstGeom prst="rect">
            <a:avLst/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75199" y="1828800"/>
            <a:ext cx="2172989" cy="3790950"/>
          </a:xfrm>
          <a:prstGeom prst="rect">
            <a:avLst/>
          </a:prstGeom>
          <a:solidFill>
            <a:srgbClr val="F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33938" y="1828800"/>
            <a:ext cx="2300812" cy="3790950"/>
          </a:xfrm>
          <a:prstGeom prst="rect">
            <a:avLst/>
          </a:prstGeom>
          <a:solidFill>
            <a:srgbClr val="F3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428750" y="5619750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0600" y="554355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0%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28750" y="4681538"/>
            <a:ext cx="10077450" cy="0"/>
          </a:xfrm>
          <a:prstGeom prst="line">
            <a:avLst/>
          </a:prstGeom>
          <a:ln w="9525">
            <a:solidFill>
              <a:srgbClr val="EF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28750" y="3743325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0600" y="3667125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50%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28750" y="2805112"/>
            <a:ext cx="10077450" cy="0"/>
          </a:xfrm>
          <a:prstGeom prst="line">
            <a:avLst/>
          </a:prstGeom>
          <a:ln w="9525">
            <a:solidFill>
              <a:srgbClr val="EFE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28750" y="1866900"/>
            <a:ext cx="1007745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0600" y="17907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0">
                <a:solidFill>
                  <a:srgbClr val="9A937F"/>
                </a:solidFill>
                <a:latin typeface="Courier New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495425" y="3657600"/>
            <a:ext cx="3752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9A937F"/>
                </a:solidFill>
                <a:latin typeface="Courier New"/>
              </a:rPr>
              <a:t>% OF PATIENTS / TUMORS THAT CARRY THE MARKER</a:t>
            </a:r>
          </a:p>
        </p:txBody>
      </p:sp>
      <p:sp>
        <p:nvSpPr>
          <p:cNvPr id="15" name="Oval 14"/>
          <p:cNvSpPr/>
          <p:nvPr/>
        </p:nvSpPr>
        <p:spPr>
          <a:xfrm>
            <a:off x="1454225" y="4341495"/>
            <a:ext cx="304800" cy="304800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48805" y="4904422"/>
            <a:ext cx="304800" cy="30480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3845" y="3403282"/>
            <a:ext cx="304800" cy="30480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3211" y="3966210"/>
            <a:ext cx="304800" cy="30480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1034" y="4341495"/>
            <a:ext cx="304800" cy="30480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7950" y="2277428"/>
            <a:ext cx="304800" cy="304800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5773" y="3215640"/>
            <a:ext cx="304800" cy="304800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42356" y="2915412"/>
            <a:ext cx="304800" cy="304800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45449" y="2089785"/>
            <a:ext cx="304800" cy="304800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41879" y="3217568"/>
            <a:ext cx="300943" cy="300943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54767" y="3217568"/>
            <a:ext cx="300943" cy="300943"/>
          </a:xfrm>
          <a:prstGeom prst="ellipse">
            <a:avLst/>
          </a:prstGeom>
          <a:noFill/>
          <a:ln w="1905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93213" y="5356693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36076" y="4981408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90785" y="4831294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18608" y="5319164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46431" y="5394221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74254" y="5356693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02076" y="5394221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58659" y="5431750"/>
            <a:ext cx="300943" cy="300943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7399" y="2279356"/>
            <a:ext cx="300943" cy="300943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2107" y="2354413"/>
            <a:ext cx="300943" cy="300943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99930" y="4718708"/>
            <a:ext cx="300943" cy="300943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27753" y="3968138"/>
            <a:ext cx="300943" cy="300943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92110" y="1920980"/>
            <a:ext cx="267125" cy="267125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9933" y="4247747"/>
            <a:ext cx="267125" cy="267125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47756" y="1920980"/>
            <a:ext cx="267125" cy="267125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75578" y="1920980"/>
            <a:ext cx="267125" cy="267125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34569" y="2703665"/>
            <a:ext cx="202896" cy="202896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62392" y="2516022"/>
            <a:ext cx="202896" cy="202896"/>
          </a:xfrm>
          <a:prstGeom prst="ellipse">
            <a:avLst/>
          </a:prstGeom>
          <a:noFill/>
          <a:ln w="1905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35516" y="2516022"/>
            <a:ext cx="202896" cy="202896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034585" y="5412722"/>
            <a:ext cx="188886" cy="188886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56231" y="5187551"/>
            <a:ext cx="188886" cy="188886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87433" y="3104030"/>
            <a:ext cx="152734" cy="152734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29680" y="2090761"/>
            <a:ext cx="152734" cy="152734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38892" y="3674023"/>
            <a:ext cx="138604" cy="138604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467089" y="3113616"/>
            <a:ext cx="133562" cy="133562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53651" y="2363046"/>
            <a:ext cx="133562" cy="133562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184094" y="2553309"/>
            <a:ext cx="128323" cy="128323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717207" y="3307171"/>
            <a:ext cx="121738" cy="121738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97856" y="4883368"/>
            <a:ext cx="121738" cy="121738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30794" y="4132798"/>
            <a:ext cx="121738" cy="121738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60914" y="5298479"/>
            <a:ext cx="117142" cy="117142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88737" y="5110837"/>
            <a:ext cx="117142" cy="117142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016560" y="4435324"/>
            <a:ext cx="117142" cy="117142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03122" y="2258671"/>
            <a:ext cx="117142" cy="117142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33951" y="2186620"/>
            <a:ext cx="111131" cy="111131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61774" y="1998977"/>
            <a:ext cx="111131" cy="111131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89597" y="1998977"/>
            <a:ext cx="111131" cy="111131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17420" y="3312475"/>
            <a:ext cx="111131" cy="111131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780461" y="1998977"/>
            <a:ext cx="111131" cy="111131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08284" y="1998977"/>
            <a:ext cx="111131" cy="111131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20513" y="2186620"/>
            <a:ext cx="111131" cy="111131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48336" y="1998977"/>
            <a:ext cx="111131" cy="111131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150567" y="5117020"/>
            <a:ext cx="104775" cy="104775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579337" y="2752725"/>
            <a:ext cx="104775" cy="104775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279716" y="3692264"/>
            <a:ext cx="102122" cy="102122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07539" y="2941694"/>
            <a:ext cx="102122" cy="102122"/>
          </a:xfrm>
          <a:prstGeom prst="ellipse">
            <a:avLst/>
          </a:prstGeom>
          <a:noFill/>
          <a:ln w="1905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249747" y="4255191"/>
            <a:ext cx="102122" cy="102122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77570" y="2566409"/>
            <a:ext cx="102122" cy="102122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05393" y="2754051"/>
            <a:ext cx="102122" cy="102122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708486" y="3467093"/>
            <a:ext cx="102122" cy="102122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471896" y="4632533"/>
            <a:ext cx="98008" cy="98008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37419" y="5007818"/>
            <a:ext cx="98008" cy="98008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746689" y="2193181"/>
            <a:ext cx="98008" cy="98008"/>
          </a:xfrm>
          <a:prstGeom prst="ellipse">
            <a:avLst/>
          </a:prstGeom>
          <a:solidFill>
            <a:srgbClr val="D8A887"/>
          </a:solidFill>
          <a:ln w="1016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901900" y="2382202"/>
            <a:ext cx="95250" cy="95250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318089" y="3695700"/>
            <a:ext cx="95250" cy="9525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666621" y="2757488"/>
            <a:ext cx="95250" cy="9525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794444" y="5346954"/>
            <a:ext cx="95250" cy="95250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45922" y="2006918"/>
            <a:ext cx="95250" cy="95250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973745" y="2006918"/>
            <a:ext cx="95250" cy="95250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839745" y="3395472"/>
            <a:ext cx="95250" cy="95250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967568" y="4446270"/>
            <a:ext cx="95250" cy="95250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95391" y="2494788"/>
            <a:ext cx="95250" cy="95250"/>
          </a:xfrm>
          <a:prstGeom prst="ellipse">
            <a:avLst/>
          </a:prstGeom>
          <a:noFill/>
          <a:ln w="1905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223214" y="1969389"/>
            <a:ext cx="95250" cy="95250"/>
          </a:xfrm>
          <a:prstGeom prst="ellipse">
            <a:avLst/>
          </a:prstGeom>
          <a:solidFill>
            <a:srgbClr val="B1C1CC"/>
          </a:solidFill>
          <a:ln w="10160">
            <a:solidFill>
              <a:srgbClr val="7D9B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32402" y="5389245"/>
            <a:ext cx="85725" cy="85725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502428" y="5089017"/>
            <a:ext cx="85725" cy="85725"/>
          </a:xfrm>
          <a:prstGeom prst="ellipse">
            <a:avLst/>
          </a:prstGeom>
          <a:solidFill>
            <a:srgbClr val="81B1B2"/>
          </a:solidFill>
          <a:ln w="1016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108748" y="5565629"/>
            <a:ext cx="85725" cy="85725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7029" y="2199322"/>
            <a:ext cx="85725" cy="85725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54852" y="1824038"/>
            <a:ext cx="85725" cy="85725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182675" y="1824038"/>
            <a:ext cx="85725" cy="85725"/>
          </a:xfrm>
          <a:prstGeom prst="ellipse">
            <a:avLst/>
          </a:prstGeom>
          <a:solidFill>
            <a:srgbClr val="828689"/>
          </a:solidFill>
          <a:ln w="10160">
            <a:solidFill>
              <a:srgbClr val="2C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641414" y="3700462"/>
            <a:ext cx="85725" cy="85725"/>
          </a:xfrm>
          <a:prstGeom prst="ellipse">
            <a:avLst/>
          </a:prstGeom>
          <a:noFill/>
          <a:ln w="19050">
            <a:solidFill>
              <a:srgbClr val="C070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1638300" y="5867400"/>
            <a:ext cx="1003903" cy="0"/>
          </a:xfrm>
          <a:prstGeom prst="line">
            <a:avLst/>
          </a:prstGeom>
          <a:ln w="31750">
            <a:solidFill>
              <a:srgbClr val="2A7F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600200" y="5905500"/>
            <a:ext cx="1080103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A7F86"/>
                </a:solidFill>
                <a:latin typeface="Helvetica Neue"/>
              </a:rPr>
              <a:t>IO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" y="6076950"/>
            <a:ext cx="1080103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IMMUNO-ONCOLOGY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004153" y="5867400"/>
            <a:ext cx="3247196" cy="0"/>
          </a:xfrm>
          <a:prstGeom prst="line">
            <a:avLst/>
          </a:prstGeom>
          <a:ln w="31750">
            <a:solidFill>
              <a:srgbClr val="2C35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66053" y="5905500"/>
            <a:ext cx="3323395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C3540"/>
                </a:solidFill>
                <a:latin typeface="Helvetica Neue"/>
              </a:rPr>
              <a:t>TT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66053" y="6076950"/>
            <a:ext cx="3323395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TARGETED THERAPY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613299" y="5867400"/>
            <a:ext cx="2096789" cy="0"/>
          </a:xfrm>
          <a:prstGeom prst="line">
            <a:avLst/>
          </a:prstGeom>
          <a:ln w="31750">
            <a:solidFill>
              <a:srgbClr val="C070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575199" y="5905500"/>
            <a:ext cx="2172989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C0703B"/>
                </a:solidFill>
                <a:latin typeface="Helvetica Neue"/>
              </a:rPr>
              <a:t>ADC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75199" y="6076950"/>
            <a:ext cx="2172989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ANTIBODY–DRUG CONJUGATE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9072038" y="5867400"/>
            <a:ext cx="2224612" cy="0"/>
          </a:xfrm>
          <a:prstGeom prst="line">
            <a:avLst/>
          </a:prstGeom>
          <a:ln w="31750">
            <a:solidFill>
              <a:srgbClr val="7D9B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033938" y="5905500"/>
            <a:ext cx="2300812" cy="171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7D9BB3"/>
                </a:solidFill>
                <a:latin typeface="Helvetica Neue"/>
              </a:rPr>
              <a:t>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3938" y="6076950"/>
            <a:ext cx="2300812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9A937F"/>
                </a:solidFill>
                <a:latin typeface="Courier New"/>
              </a:rPr>
              <a:t>CELL THERAPY / TCE</a:t>
            </a:r>
          </a:p>
        </p:txBody>
      </p:sp>
      <p:cxnSp>
        <p:nvCxnSpPr>
          <p:cNvPr id="108" name="Connector 107"/>
          <p:cNvCxnSpPr/>
          <p:nvPr/>
        </p:nvCxnSpPr>
        <p:spPr>
          <a:xfrm flipV="1">
            <a:off x="1692350" y="3160418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73225" y="3027068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PD-L1 · NSCLC</a:t>
            </a:r>
          </a:p>
        </p:txBody>
      </p:sp>
      <p:cxnSp>
        <p:nvCxnSpPr>
          <p:cNvPr id="110" name="Connector 109"/>
          <p:cNvCxnSpPr/>
          <p:nvPr/>
        </p:nvCxnSpPr>
        <p:spPr>
          <a:xfrm flipV="1">
            <a:off x="4436017" y="2646515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816892" y="251316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PSMA · mCRPC</a:t>
            </a:r>
          </a:p>
        </p:txBody>
      </p:sp>
      <p:cxnSp>
        <p:nvCxnSpPr>
          <p:cNvPr id="112" name="Connector 111"/>
          <p:cNvCxnSpPr/>
          <p:nvPr/>
        </p:nvCxnSpPr>
        <p:spPr>
          <a:xfrm flipV="1">
            <a:off x="3116245" y="3346132"/>
            <a:ext cx="0" cy="38100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497120" y="3212782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HER2 · breast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225672" y="2207155"/>
            <a:ext cx="0" cy="28575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606547" y="2226205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BCMA · myeloma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533870" y="3266229"/>
            <a:ext cx="0" cy="28575"/>
          </a:xfrm>
          <a:prstGeom prst="line">
            <a:avLst/>
          </a:prstGeom>
          <a:ln w="10160">
            <a:solidFill>
              <a:srgbClr val="B7B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914745" y="3285279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25" b="1" i="0">
                <a:solidFill>
                  <a:srgbClr val="1F2A36"/>
                </a:solidFill>
                <a:latin typeface="Helvetica Neue"/>
              </a:rPr>
              <a:t>B7-H3 · SCLC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2639378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TROP2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534683" y="43432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GPRC5D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77043" y="432244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EGFRvIII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85636" y="40805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PIK3CA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13459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ESR1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00023" y="357759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Nectin-4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094781" y="3029712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LIV-1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59699" y="245173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MUC1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03335" y="332994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TIGIT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39353" y="494366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EGFR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30929" y="5195339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ALK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20675" y="2466784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HER3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48498" y="483108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CEACAM5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76321" y="408051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AXL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43168" y="179715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CD38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98814" y="2392197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STEAP1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12524" y="506372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BRAF V600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67898" y="1966936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Tissue Factor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34839" y="2391728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DLL3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360042" y="257937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CD70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00156" y="4155567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CLDN18.2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25681" y="5318950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IDH1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09158" y="4987012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IDH2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181327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FLT3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223543" y="2432963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 i="0">
                <a:solidFill>
                  <a:srgbClr val="5B6470"/>
                </a:solidFill>
                <a:latin typeface="Helvetica Neue"/>
              </a:rPr>
              <a:t>CD33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92707" y="220408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CD22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06650" y="4455795"/>
            <a:ext cx="8763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5B6470"/>
                </a:solidFill>
                <a:latin typeface="Helvetica Neue"/>
              </a:rPr>
              <a:t>PD-L1 · TNBC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5800" y="457200"/>
            <a:ext cx="4762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1" i="0">
                <a:solidFill>
                  <a:srgbClr val="1A4D5B"/>
                </a:solidFill>
                <a:latin typeface="Helvetica Neue"/>
              </a:rPr>
              <a:t>HOW WE EXECUTE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5800" y="62865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0A1620"/>
                </a:solidFill>
                <a:latin typeface="Georgia"/>
              </a:rPr>
              <a:t>The Disease &amp; Drug-Class Atlas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10500" y="476250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4600" b="0" i="0">
                <a:solidFill>
                  <a:srgbClr val="B26A3D"/>
                </a:solidFill>
                <a:latin typeface="Georgia"/>
              </a:rPr>
              <a:t>~$190B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58200" y="11430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1F2A36"/>
                </a:solidFill>
                <a:latin typeface="Helvetica Neue"/>
              </a:rPr>
              <a:t>of oncology therapy market sits across the indications these targets define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10500" y="1428750"/>
            <a:ext cx="36957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750" b="0" i="0">
                <a:solidFill>
                  <a:srgbClr val="8A8472"/>
                </a:solidFill>
                <a:latin typeface="Courier New"/>
              </a:rPr>
              <a:t>65 targets · 22 indications · 4 drug classes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85800" y="1676400"/>
            <a:ext cx="1082040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Oval 150"/>
          <p:cNvSpPr/>
          <p:nvPr/>
        </p:nvSpPr>
        <p:spPr>
          <a:xfrm>
            <a:off x="1428750" y="6477000"/>
            <a:ext cx="114300" cy="114300"/>
          </a:xfrm>
          <a:prstGeom prst="ellipse">
            <a:avLst/>
          </a:prstGeom>
          <a:solidFill>
            <a:srgbClr val="1F2A36"/>
          </a:solidFill>
          <a:ln w="6350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81150" y="64674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0" i="0">
                <a:solidFill>
                  <a:srgbClr val="1F2A36"/>
                </a:solidFill>
                <a:latin typeface="Helvetica Neue"/>
              </a:rPr>
              <a:t>Validated</a:t>
            </a:r>
          </a:p>
        </p:txBody>
      </p:sp>
      <p:sp>
        <p:nvSpPr>
          <p:cNvPr id="153" name="Oval 152"/>
          <p:cNvSpPr/>
          <p:nvPr/>
        </p:nvSpPr>
        <p:spPr>
          <a:xfrm>
            <a:off x="2343150" y="6477000"/>
            <a:ext cx="114300" cy="114300"/>
          </a:xfrm>
          <a:prstGeom prst="ellipse">
            <a:avLst/>
          </a:prstGeom>
          <a:noFill/>
          <a:ln w="17780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495550" y="64674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25" b="0" i="0">
                <a:solidFill>
                  <a:srgbClr val="1F2A36"/>
                </a:solidFill>
                <a:latin typeface="Helvetica Neue"/>
              </a:rPr>
              <a:t>In trials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96000" y="6467475"/>
            <a:ext cx="4724400" cy="133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825" b="0" i="1">
                <a:solidFill>
                  <a:srgbClr val="4A5260"/>
                </a:solidFill>
                <a:latin typeface="Georgia"/>
              </a:rPr>
              <a:t>each circle = one marker in one indication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685800" y="6667500"/>
            <a:ext cx="10820400" cy="0"/>
          </a:xfrm>
          <a:prstGeom prst="line">
            <a:avLst/>
          </a:prstGeom>
          <a:ln w="9525">
            <a:solidFill>
              <a:srgbClr val="E3D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85800" y="6705600"/>
            <a:ext cx="4762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75" b="1" i="0">
                <a:solidFill>
                  <a:srgbClr val="8A8472"/>
                </a:solidFill>
                <a:latin typeface="Helvetica Neue"/>
              </a:rPr>
              <a:t>SINGULAR GENOMICS · DEERFIELD IC · JUNE 2026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43250" y="6705600"/>
            <a:ext cx="5905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40" b="0" i="0">
                <a:solidFill>
                  <a:srgbClr val="8A8472"/>
                </a:solidFill>
                <a:latin typeface="Courier New"/>
              </a:rPr>
              <a:t>Frequencies: peer-reviewed / FDA labels · markets: 2024 secondary-research estimates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553700" y="6705600"/>
            <a:ext cx="9525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75" b="1" i="0">
                <a:solidFill>
                  <a:srgbClr val="8A8472"/>
                </a:solidFill>
                <a:latin typeface="Helvetica Neue"/>
              </a:rPr>
              <a:t>THE 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